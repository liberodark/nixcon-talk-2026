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enClr>
      <a:srgbClr val="0000FF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1" d="100"/>
          <a:sy n="81" d="100"/>
        </p:scale>
        <p:origin x="1064" y="214"/>
      </p:cViewPr>
      <p:guideLst>
        <p:guide pos="2160" orient="horz"/>
        <p:guide pos="3840"/>
      </p:guideLst>
    </p:cSldViewPr>
  </p:slideViewPr>
  <p:gridSpacing cx="73477120" cy="7347712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705246" name="Espace réservé d'en-tête 1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l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7089940" name="Espace réservé pour la date 2"/>
          <p:cNvSpPr>
            <a:spLocks noChangeArrowheads="1" noGrp="1"/>
          </p:cNvSpPr>
          <p:nvPr>
            <p:ph type="dt" idx="10"/>
          </p:nvPr>
        </p:nvSpPr>
        <p:spPr bwMode="auto">
          <a:xfrm>
            <a:off x="388493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r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526940BB-F5BF-3CB6-F1D1-03E30E9F0756}" type="datetime1">
              <a:rPr/>
              <a:t>10/30/2013</a:t>
            </a:fld>
            <a:endParaRPr/>
          </a:p>
        </p:txBody>
      </p:sp>
      <p:sp>
        <p:nvSpPr>
          <p:cNvPr id="1064361429" name="Espace réservé pour l'image de la diapositive 3"/>
          <p:cNvSpPr>
            <a:spLocks noChangeArrowheads="1" noGrp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2052586346" name="Remarques Espace réservé 4"/>
          <p:cNvSpPr>
            <a:spLocks noChangeArrowheads="1" noGrp="1"/>
          </p:cNvSpPr>
          <p:nvPr>
            <p:ph type="body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Deuxième niveau</a:t>
            </a:r>
            <a:endParaRPr/>
          </a:p>
          <a:p>
            <a:pPr lvl="2">
              <a:defRPr/>
            </a:pPr>
            <a:r>
              <a:rPr/>
              <a:t>Troisième niveau</a:t>
            </a:r>
            <a:endParaRPr/>
          </a:p>
          <a:p>
            <a:pPr lvl="3">
              <a:defRPr/>
            </a:pPr>
            <a:r>
              <a:rPr/>
              <a:t>Quatrième niveau</a:t>
            </a:r>
            <a:endParaRPr/>
          </a:p>
          <a:p>
            <a:pPr lvl="4">
              <a:defRPr/>
            </a:pPr>
            <a:r>
              <a:rPr/>
              <a:t>Cinquième niveau</a:t>
            </a:r>
            <a:endParaRPr/>
          </a:p>
        </p:txBody>
      </p:sp>
      <p:sp>
        <p:nvSpPr>
          <p:cNvPr id="1541455086" name="Espace réservé du pied de page 5"/>
          <p:cNvSpPr>
            <a:spLocks noChangeArrowheads="1" noGrp="1"/>
          </p:cNvSpPr>
          <p:nvPr>
            <p:ph type="ftr" sz="quarter" idx="11"/>
          </p:nvPr>
        </p:nvSpPr>
        <p:spPr bwMode="auto"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l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1743167" name="Espace réservé du numéro de diapositive 6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r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4BEFC1E9-A7A6-BA37-E857-51628F191E04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0" hdr="0" sldNum="1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Arial"/>
        <a:ea typeface="Arial"/>
        <a:cs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414451" name="Titre 1"/>
          <p:cNvSpPr>
            <a:spLocks noChangeArrowheads="1" noGrp="1"/>
          </p:cNvSpPr>
          <p:nvPr>
            <p:ph type="ctrTitle"/>
          </p:nvPr>
        </p:nvSpPr>
        <p:spPr bwMode="auto">
          <a:xfrm>
            <a:off x="1524000" y="1122680"/>
            <a:ext cx="9144000" cy="238760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ctr">
              <a:defRPr sz="60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846878377" name="Sous-titre 2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 cap="none"/>
            </a:lvl1pPr>
            <a:lvl2pPr marL="457200" indent="0" algn="ctr">
              <a:buNone/>
              <a:defRPr sz="2000" cap="none"/>
            </a:lvl2pPr>
            <a:lvl3pPr marL="914400" indent="0" algn="ctr">
              <a:buNone/>
              <a:defRPr sz="1800" cap="none"/>
            </a:lvl3pPr>
            <a:lvl4pPr marL="1371600" indent="0" algn="ctr">
              <a:buNone/>
              <a:defRPr sz="1600" cap="none"/>
            </a:lvl4pPr>
            <a:lvl5pPr marL="1828800" indent="0" algn="ctr">
              <a:buNone/>
              <a:defRPr sz="1600" cap="none"/>
            </a:lvl5pPr>
            <a:lvl6pPr marL="2286000" indent="0" algn="ctr">
              <a:buNone/>
              <a:defRPr sz="1600" cap="none"/>
            </a:lvl6pPr>
            <a:lvl7pPr marL="2743200" indent="0" algn="ctr">
              <a:buNone/>
              <a:defRPr sz="1600" cap="none"/>
            </a:lvl7pPr>
            <a:lvl8pPr marL="3200400" indent="0" algn="ctr">
              <a:buNone/>
              <a:defRPr sz="1600" cap="none"/>
            </a:lvl8pPr>
            <a:lvl9pPr marL="3657600" indent="0" algn="ctr">
              <a:buNone/>
              <a:defRPr sz="1600" cap="none"/>
            </a:lvl9pPr>
          </a:lstStyle>
          <a:p>
            <a:pPr>
              <a:defRPr/>
            </a:pPr>
            <a:r>
              <a:rPr/>
              <a:t>Modifiez le style des sous-titres du masque</a:t>
            </a:r>
            <a:endParaRPr/>
          </a:p>
        </p:txBody>
      </p:sp>
      <p:sp>
        <p:nvSpPr>
          <p:cNvPr id="1615529276" name="Espace réservé de la date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62167CC-82CB-7491-8599-74C429D77321}" type="datetime1">
              <a:rPr/>
              <a:t/>
            </a:fld>
            <a:endParaRPr/>
          </a:p>
        </p:txBody>
      </p:sp>
      <p:sp>
        <p:nvSpPr>
          <p:cNvPr id="2000788491" name="Espace réservé du pied de page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573692" name="Espace réservé du numéro de diapositive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C47427-69FD-9182-B37C-9FD73A3245CA}" type="slidenum">
              <a:rPr/>
              <a:t/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576710" name="Titr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398757836" name="Espace réservé du contenu 2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76294111" name="Espace réservé de la date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7BC154C-02FA-E9E3-B404-F4B65B4A42A1}" type="datetime1">
              <a:rPr/>
              <a:t/>
            </a:fld>
            <a:endParaRPr/>
          </a:p>
        </p:txBody>
      </p:sp>
      <p:sp>
        <p:nvSpPr>
          <p:cNvPr id="1158077819" name="Espace réservé du pied de page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461629" name="Espace réservé du numéro de diapositive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0F7375-3BA2-5A85-ECB7-CDD03DF91A98}" type="slidenum">
              <a:rPr/>
              <a:t/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089054" name="Titre 1"/>
          <p:cNvSpPr>
            <a:spLocks noChangeArrowheads="1" noGrp="1"/>
          </p:cNvSpPr>
          <p:nvPr>
            <p:ph type="title"/>
          </p:nvPr>
        </p:nvSpPr>
        <p:spPr bwMode="auto">
          <a:xfrm>
            <a:off x="831850" y="1710055"/>
            <a:ext cx="10515600" cy="285242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>
              <a:defRPr sz="60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1176975734" name="Espace réservé du texte 2"/>
          <p:cNvSpPr>
            <a:spLocks noChangeArrowheads="1" noGrp="1"/>
          </p:cNvSpPr>
          <p:nvPr>
            <p:ph idx="1"/>
          </p:nvPr>
        </p:nvSpPr>
        <p:spPr bwMode="auto"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sz="2400" cap="none">
                <a:solidFill>
                  <a:srgbClr val="8C8C8C"/>
                </a:solidFill>
              </a:defRPr>
            </a:lvl1pPr>
            <a:lvl2pPr marL="457200" indent="0">
              <a:buNone/>
              <a:defRPr sz="2000" cap="none">
                <a:solidFill>
                  <a:srgbClr val="8C8C8C"/>
                </a:solidFill>
              </a:defRPr>
            </a:lvl2pPr>
            <a:lvl3pPr marL="914400" indent="0">
              <a:buNone/>
              <a:defRPr sz="1800" cap="none">
                <a:solidFill>
                  <a:srgbClr val="8C8C8C"/>
                </a:solidFill>
              </a:defRPr>
            </a:lvl3pPr>
            <a:lvl4pPr marL="1371600" indent="0">
              <a:buNone/>
              <a:defRPr sz="1600" cap="none">
                <a:solidFill>
                  <a:srgbClr val="8C8C8C"/>
                </a:solidFill>
              </a:defRPr>
            </a:lvl4pPr>
            <a:lvl5pPr marL="1828800" indent="0">
              <a:buNone/>
              <a:defRPr sz="1600" cap="none">
                <a:solidFill>
                  <a:srgbClr val="8C8C8C"/>
                </a:solidFill>
              </a:defRPr>
            </a:lvl5pPr>
            <a:lvl6pPr marL="2286000" indent="0">
              <a:buNone/>
              <a:defRPr sz="1600" cap="none">
                <a:solidFill>
                  <a:srgbClr val="8C8C8C"/>
                </a:solidFill>
              </a:defRPr>
            </a:lvl6pPr>
            <a:lvl7pPr marL="2743200" indent="0">
              <a:buNone/>
              <a:defRPr sz="1600" cap="none">
                <a:solidFill>
                  <a:srgbClr val="8C8C8C"/>
                </a:solidFill>
              </a:defRPr>
            </a:lvl7pPr>
            <a:lvl8pPr marL="3200400" indent="0">
              <a:buNone/>
              <a:defRPr sz="1600" cap="none">
                <a:solidFill>
                  <a:srgbClr val="8C8C8C"/>
                </a:solidFill>
              </a:defRPr>
            </a:lvl8pPr>
            <a:lvl9pPr marL="3657600" indent="0">
              <a:buNone/>
              <a:defRPr sz="1600" cap="none">
                <a:solidFill>
                  <a:srgbClr val="8C8C8C"/>
                </a:solidFill>
              </a:defRPr>
            </a:lvl9pPr>
          </a:lstStyle>
          <a:p>
            <a:pPr>
              <a:defRPr/>
            </a:pPr>
            <a:r>
              <a:rPr/>
              <a:t>Modifiez les styles du texte du masque</a:t>
            </a:r>
            <a:endParaRPr/>
          </a:p>
        </p:txBody>
      </p:sp>
      <p:sp>
        <p:nvSpPr>
          <p:cNvPr id="1481241030" name="Espace réservé de la date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5CF1A8-E6E4-0907-AAE4-1052BFAA5C45}" type="datetime1">
              <a:rPr/>
              <a:t>30.10.2013</a:t>
            </a:fld>
            <a:endParaRPr/>
          </a:p>
        </p:txBody>
      </p:sp>
      <p:sp>
        <p:nvSpPr>
          <p:cNvPr id="1869738066" name="Espace réservé du pied de page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523009" name="Espace réservé du numéro de diapositive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FA75EF-A180-AF83-CE42-57D63B0C3802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106698" name="Titr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1184158374" name="Espace réservé du contenu 2"/>
          <p:cNvSpPr>
            <a:spLocks noChangeArrowheads="1" noGrp="1"/>
          </p:cNvSpPr>
          <p:nvPr>
            <p:ph idx="1"/>
          </p:nvPr>
        </p:nvSpPr>
        <p:spPr bwMode="auto">
          <a:xfrm>
            <a:off x="838200" y="1825625"/>
            <a:ext cx="5181600" cy="4351655"/>
          </a:xfrm>
        </p:spPr>
        <p:txBody>
          <a:bodyPr/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9768797" name="Espace réservé du contenu 3"/>
          <p:cNvSpPr>
            <a:spLocks noChangeArrowheads="1" noGrp="1"/>
          </p:cNvSpPr>
          <p:nvPr>
            <p:ph idx="2"/>
          </p:nvPr>
        </p:nvSpPr>
        <p:spPr bwMode="auto">
          <a:xfrm>
            <a:off x="6172200" y="1825625"/>
            <a:ext cx="5181600" cy="4351655"/>
          </a:xfrm>
        </p:spPr>
        <p:txBody>
          <a:bodyPr/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09659683" name="Espace réservé de la date 4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84061CC-82B5-1597-FBF8-74C22FB60D21}" type="datetime1">
              <a:rPr/>
              <a:t>30.10.2013</a:t>
            </a:fld>
            <a:endParaRPr/>
          </a:p>
        </p:txBody>
      </p:sp>
      <p:sp>
        <p:nvSpPr>
          <p:cNvPr id="2067035869" name="Espace réservé du pied de page 5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451352" name="Espace réservé du numéro de diapositive 6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30D732F-61FE-5885-B0B5-97D03DFB46C2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6638" name="Titre 1"/>
          <p:cNvSpPr>
            <a:spLocks noChangeArrowheads="1" noGrp="1"/>
          </p:cNvSpPr>
          <p:nvPr>
            <p:ph type="title"/>
          </p:nvPr>
        </p:nvSpPr>
        <p:spPr bwMode="auto">
          <a:xfrm>
            <a:off x="840105" y="365125"/>
            <a:ext cx="10515600" cy="1325880"/>
          </a:xfrm>
        </p:spPr>
        <p:txBody>
          <a:bodyPr/>
          <a:lstStyle/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1633567679" name="Espace réservé du texte 2"/>
          <p:cNvSpPr>
            <a:spLocks noChangeArrowheads="1" noGrp="1"/>
          </p:cNvSpPr>
          <p:nvPr>
            <p:ph idx="1"/>
          </p:nvPr>
        </p:nvSpPr>
        <p:spPr bwMode="auto">
          <a:xfrm>
            <a:off x="840105" y="1681480"/>
            <a:ext cx="5157470" cy="823595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Modifiez les styles du texte du masque</a:t>
            </a:r>
            <a:endParaRPr/>
          </a:p>
        </p:txBody>
      </p:sp>
      <p:sp>
        <p:nvSpPr>
          <p:cNvPr id="1134468022" name="Espace réservé du contenu 3"/>
          <p:cNvSpPr>
            <a:spLocks noChangeArrowheads="1" noGrp="1"/>
          </p:cNvSpPr>
          <p:nvPr>
            <p:ph idx="2"/>
          </p:nvPr>
        </p:nvSpPr>
        <p:spPr bwMode="auto">
          <a:xfrm>
            <a:off x="840105" y="2505074"/>
            <a:ext cx="5157470" cy="3684270"/>
          </a:xfrm>
        </p:spPr>
        <p:txBody>
          <a:bodyPr/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80256535" name="Espace réservé du texte 4"/>
          <p:cNvSpPr>
            <a:spLocks noChangeArrowheads="1" noGrp="1"/>
          </p:cNvSpPr>
          <p:nvPr>
            <p:ph idx="3"/>
          </p:nvPr>
        </p:nvSpPr>
        <p:spPr bwMode="auto">
          <a:xfrm>
            <a:off x="6172200" y="1681480"/>
            <a:ext cx="5183505" cy="823595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Modifiez les styles du texte du masque</a:t>
            </a:r>
            <a:endParaRPr/>
          </a:p>
        </p:txBody>
      </p:sp>
      <p:sp>
        <p:nvSpPr>
          <p:cNvPr id="847925295" name="Espace réservé du contenu 5"/>
          <p:cNvSpPr>
            <a:spLocks noChangeArrowheads="1" noGrp="1"/>
          </p:cNvSpPr>
          <p:nvPr>
            <p:ph idx="4"/>
          </p:nvPr>
        </p:nvSpPr>
        <p:spPr bwMode="auto">
          <a:xfrm>
            <a:off x="6172200" y="2505074"/>
            <a:ext cx="5183505" cy="3684270"/>
          </a:xfrm>
        </p:spPr>
        <p:txBody>
          <a:bodyPr/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57589042" name="Espace réservé de la date 6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DFF00DB-9590-AAF6-DE47-63A34E092836}" type="datetime1">
              <a:rPr/>
              <a:t>30.10.2013</a:t>
            </a:fld>
            <a:endParaRPr/>
          </a:p>
        </p:txBody>
      </p:sp>
      <p:sp>
        <p:nvSpPr>
          <p:cNvPr id="2141418994" name="Espace réservé du pied de page 7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221534" name="Espace réservé du numéro de diapositive 8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D414D9-97D2-81E2-9C6C-61B75A226A34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190117" name="Titr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890196947" name="Espace réservé de la date 2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DFBBA15-5B80-AE4C-CE43-AD19F40D38F8}" type="datetime1">
              <a:rPr/>
              <a:t>30.10.2013</a:t>
            </a:fld>
            <a:endParaRPr/>
          </a:p>
        </p:txBody>
      </p:sp>
      <p:sp>
        <p:nvSpPr>
          <p:cNvPr id="2078000379" name="Espace réservé du pied de page 3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419400" name="Espace réservé du numéro de diapositive 4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95C4A6-E8E2-C032-AC2D-1E678A635A4B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299329" name="Espace réservé de la date 1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F07E05-4B85-A588-CB48-BDDD30063DE8}" type="datetime1">
              <a:rPr/>
              <a:t>30.10.2013</a:t>
            </a:fld>
            <a:endParaRPr/>
          </a:p>
        </p:txBody>
      </p:sp>
      <p:sp>
        <p:nvSpPr>
          <p:cNvPr id="1121986041" name="Espace réservé du pied de page 2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039987" name="Espace réservé du numéro de diapositive 3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4F6637-7980-1A90-CEF7-8FC528B938DA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25726" name="Titre 1"/>
          <p:cNvSpPr>
            <a:spLocks noChangeArrowheads="1" noGrp="1"/>
          </p:cNvSpPr>
          <p:nvPr>
            <p:ph type="title"/>
          </p:nvPr>
        </p:nvSpPr>
        <p:spPr bwMode="auto"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>
              <a:defRPr sz="3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713869833" name="Espace réservé du contenu 2"/>
          <p:cNvSpPr>
            <a:spLocks noChangeArrowheads="1" noGrp="1"/>
          </p:cNvSpPr>
          <p:nvPr>
            <p:ph idx="1"/>
          </p:nvPr>
        </p:nvSpPr>
        <p:spPr bwMode="auto">
          <a:xfrm>
            <a:off x="5183505" y="987425"/>
            <a:ext cx="6172200" cy="4873625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9045046" name="Espace réservé du texte 3"/>
          <p:cNvSpPr>
            <a:spLocks noChangeArrowheads="1" noGrp="1"/>
          </p:cNvSpPr>
          <p:nvPr>
            <p:ph idx="2"/>
          </p:nvPr>
        </p:nvSpPr>
        <p:spPr bwMode="auto"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 cap="none"/>
            </a:lvl1pPr>
            <a:lvl2pPr marL="457200" indent="0">
              <a:buNone/>
              <a:defRPr sz="1400" cap="none"/>
            </a:lvl2pPr>
            <a:lvl3pPr marL="914400" indent="0">
              <a:buNone/>
              <a:defRPr sz="1200" cap="none"/>
            </a:lvl3pPr>
            <a:lvl4pPr marL="1371600" indent="0">
              <a:buNone/>
              <a:defRPr sz="1000" cap="none"/>
            </a:lvl4pPr>
            <a:lvl5pPr marL="1828800" indent="0">
              <a:buNone/>
              <a:defRPr sz="1000" cap="none"/>
            </a:lvl5pPr>
            <a:lvl6pPr marL="2286000" indent="0">
              <a:buNone/>
              <a:defRPr sz="1000" cap="none"/>
            </a:lvl6pPr>
            <a:lvl7pPr marL="2743200" indent="0">
              <a:buNone/>
              <a:defRPr sz="1000" cap="none"/>
            </a:lvl7pPr>
            <a:lvl8pPr marL="3200400" indent="0">
              <a:buNone/>
              <a:defRPr sz="1000" cap="none"/>
            </a:lvl8pPr>
            <a:lvl9pPr marL="3657600" indent="0">
              <a:buNone/>
              <a:defRPr sz="1000" cap="none"/>
            </a:lvl9pPr>
          </a:lstStyle>
          <a:p>
            <a:pPr>
              <a:defRPr/>
            </a:pPr>
            <a:r>
              <a:rPr/>
              <a:t>Modifiez les styles du texte du masque</a:t>
            </a:r>
            <a:endParaRPr/>
          </a:p>
        </p:txBody>
      </p:sp>
      <p:sp>
        <p:nvSpPr>
          <p:cNvPr id="178350330" name="Espace réservé de la date 4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55C5E49-0798-09A8-D6E4-F1FD10AA20A4}" type="datetime1">
              <a:rPr/>
              <a:t>30.10.2013</a:t>
            </a:fld>
            <a:endParaRPr/>
          </a:p>
        </p:txBody>
      </p:sp>
      <p:sp>
        <p:nvSpPr>
          <p:cNvPr id="996872550" name="Espace réservé du pied de page 5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164618" name="Espace réservé du numéro de diapositive 6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5B78995-DB88-E27F-C60F-2D2AC7413078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883300" name="Titre 1"/>
          <p:cNvSpPr>
            <a:spLocks noChangeArrowheads="1" noGrp="1"/>
          </p:cNvSpPr>
          <p:nvPr>
            <p:ph type="title"/>
          </p:nvPr>
        </p:nvSpPr>
        <p:spPr bwMode="auto"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>
              <a:defRPr sz="3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1719147079" name="Espace réservé pour une image 2"/>
          <p:cNvSpPr>
            <a:spLocks noChangeArrowheads="1" noGrp="1"/>
          </p:cNvSpPr>
          <p:nvPr>
            <p:ph type="pic" idx="1"/>
          </p:nvPr>
        </p:nvSpPr>
        <p:spPr bwMode="auto"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>
              <a:defRPr/>
            </a:pPr>
            <a:r>
              <a:rPr/>
              <a:t>Cliquez sur l'icône pour ajouter une image</a:t>
            </a:r>
            <a:endParaRPr/>
          </a:p>
        </p:txBody>
      </p:sp>
      <p:sp>
        <p:nvSpPr>
          <p:cNvPr id="1519404280" name="Espace réservé du texte 3"/>
          <p:cNvSpPr>
            <a:spLocks noChangeArrowheads="1" noGrp="1"/>
          </p:cNvSpPr>
          <p:nvPr>
            <p:ph idx="2"/>
          </p:nvPr>
        </p:nvSpPr>
        <p:spPr bwMode="auto"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 cap="none"/>
            </a:lvl1pPr>
            <a:lvl2pPr marL="457200" indent="0">
              <a:buNone/>
              <a:defRPr sz="1400" cap="none"/>
            </a:lvl2pPr>
            <a:lvl3pPr marL="914400" indent="0">
              <a:buNone/>
              <a:defRPr sz="1200" cap="none"/>
            </a:lvl3pPr>
            <a:lvl4pPr marL="1371600" indent="0">
              <a:buNone/>
              <a:defRPr sz="1000" cap="none"/>
            </a:lvl4pPr>
            <a:lvl5pPr marL="1828800" indent="0">
              <a:buNone/>
              <a:defRPr sz="1000" cap="none"/>
            </a:lvl5pPr>
            <a:lvl6pPr marL="2286000" indent="0">
              <a:buNone/>
              <a:defRPr sz="1000" cap="none"/>
            </a:lvl6pPr>
            <a:lvl7pPr marL="2743200" indent="0">
              <a:buNone/>
              <a:defRPr sz="1000" cap="none"/>
            </a:lvl7pPr>
            <a:lvl8pPr marL="3200400" indent="0">
              <a:buNone/>
              <a:defRPr sz="1000" cap="none"/>
            </a:lvl8pPr>
            <a:lvl9pPr marL="3657600" indent="0">
              <a:buNone/>
              <a:defRPr sz="1000" cap="none"/>
            </a:lvl9pPr>
          </a:lstStyle>
          <a:p>
            <a:pPr>
              <a:defRPr/>
            </a:pPr>
            <a:r>
              <a:rPr/>
              <a:t>Modifiez les styles du texte du masque</a:t>
            </a:r>
            <a:endParaRPr/>
          </a:p>
        </p:txBody>
      </p:sp>
      <p:sp>
        <p:nvSpPr>
          <p:cNvPr id="1751022661" name="Espace réservé de la date 4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41C9A8-E68A-143F-C4F9-106A87B73245}" type="datetime1">
              <a:rPr/>
              <a:t>30.10.2013</a:t>
            </a:fld>
            <a:endParaRPr/>
          </a:p>
        </p:txBody>
      </p:sp>
      <p:sp>
        <p:nvSpPr>
          <p:cNvPr id="520009553" name="Espace réservé du pied de page 5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491036" name="Espace réservé du numéro de diapositive 6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8B42B1-FFD2-DEB4-9C33-09E10C7D6A5C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044022" name="Titr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1675310968" name="Espace réservé du texte vertical 2"/>
          <p:cNvSpPr>
            <a:spLocks noChangeArrowheads="1" noGrp="1"/>
          </p:cNvSpPr>
          <p:nvPr>
            <p:ph idx="1"/>
          </p:nvPr>
        </p:nvSpPr>
        <p:spPr bwMode="auto"/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12812584" name="Espace réservé de la date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5D7A04-4AD1-088C-9FE5-BCD934AB69E9}" type="datetime1">
              <a:rPr/>
              <a:t>30.10.2013</a:t>
            </a:fld>
            <a:endParaRPr/>
          </a:p>
        </p:txBody>
      </p:sp>
      <p:sp>
        <p:nvSpPr>
          <p:cNvPr id="811921003" name="Espace réservé du pied de page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261331" name="Espace réservé du numéro de diapositive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6334DF2-BCDB-66BB-958B-4AEE03C5631F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244740" name="Titre vertical 1"/>
          <p:cNvSpPr>
            <a:spLocks noChangeArrowheads="1" noGrp="1"/>
          </p:cNvSpPr>
          <p:nvPr>
            <p:ph type="title"/>
          </p:nvPr>
        </p:nvSpPr>
        <p:spPr bwMode="auto">
          <a:xfrm>
            <a:off x="8724900" y="365125"/>
            <a:ext cx="2628900" cy="5812155"/>
          </a:xfrm>
        </p:spPr>
        <p:txBody>
          <a:bodyPr vert="vert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1432447531" name="Espace réservé du texte vertical 2"/>
          <p:cNvSpPr>
            <a:spLocks noChangeArrowheads="1" noGrp="1"/>
          </p:cNvSpPr>
          <p:nvPr>
            <p:ph idx="1"/>
          </p:nvPr>
        </p:nvSpPr>
        <p:spPr bwMode="auto">
          <a:xfrm>
            <a:off x="838200" y="365125"/>
            <a:ext cx="7734300" cy="5812155"/>
          </a:xfrm>
        </p:spPr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39517218" name="Espace réservé de la date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7C3362-2CAE-29C5-E0C4-DA907D8A168F}" type="datetime1">
              <a:rPr/>
              <a:t>30.10.2013</a:t>
            </a:fld>
            <a:endParaRPr/>
          </a:p>
        </p:txBody>
      </p:sp>
      <p:sp>
        <p:nvSpPr>
          <p:cNvPr id="345630240" name="Espace réservé du pied de page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98216" name="Espace réservé du numéro de diapositive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F64D0-9E87-4A92-C9A7-68C72AE93F3D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173466" name="Espace réservé du titre 1"/>
          <p:cNvSpPr>
            <a:spLocks noChangeArrowheads="1" noGrp="1"/>
          </p:cNvSpPr>
          <p:nvPr>
            <p:ph type="title"/>
          </p:nvPr>
        </p:nvSpPr>
        <p:spPr bwMode="auto"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Modifiez le style du titre</a:t>
            </a:r>
            <a:endParaRPr/>
          </a:p>
        </p:txBody>
      </p:sp>
      <p:sp>
        <p:nvSpPr>
          <p:cNvPr id="1026107020" name="Espace réservé du texte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Modifiez les styles du texte du masque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43348079" name="Espace réservé de la date 3"/>
          <p:cNvSpPr>
            <a:spLocks noChangeArrowheads="1"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l">
              <a:defRPr sz="1200" cap="none">
                <a:solidFill>
                  <a:srgbClr val="8C8C8C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5140B168-26BC-1547-F2F8-D012FFB60485}" type="datetime1">
              <a:rPr/>
              <a:t/>
            </a:fld>
            <a:endParaRPr/>
          </a:p>
        </p:txBody>
      </p:sp>
      <p:sp>
        <p:nvSpPr>
          <p:cNvPr id="318628597" name="Espace réservé du pied de page 4"/>
          <p:cNvSpPr>
            <a:spLocks noChangeArrowheads="1"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ctr">
              <a:defRPr sz="1200" cap="none">
                <a:solidFill>
                  <a:srgbClr val="8C8C8C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1750395" name="Espace réservé du numéro de diapositive 5"/>
          <p:cNvSpPr>
            <a:spLocks noChangeArrowheads="1"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r">
              <a:defRPr sz="1200" cap="none">
                <a:solidFill>
                  <a:srgbClr val="8C8C8C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017F2B66-28EC-2ADD-A2C7-DE886589548B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0" hdr="0" sldNum="1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Char char="•"/>
        <a:defRPr sz="2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24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20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4pPr>
      <a:lvl5pPr marL="20574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github.com/liberoda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hyperlink" Target="https://github.com/NixOS/nixpkgs/pull/557475" TargetMode="External"/><Relationship Id="rId4" Type="http://schemas.openxmlformats.org/officeDocument/2006/relationships/hyperlink" Target="https://github.com/NixOS/nixpkgs/pull/549823" TargetMode="External"/><Relationship Id="rId5" Type="http://schemas.openxmlformats.org/officeDocument/2006/relationships/hyperlink" Target="https://github.com/NixOS/nixpkgs/pull/555733" TargetMode="External"/><Relationship Id="rId6" Type="http://schemas.openxmlformats.org/officeDocument/2006/relationships/hyperlink" Target="https://github.com/NixOS/nixpkgs/pull/533574" TargetMode="External"/><Relationship Id="rId7" Type="http://schemas.openxmlformats.org/officeDocument/2006/relationships/hyperlink" Target="https://github.com/NixOS/nixpkgs/pull/555658" TargetMode="External"/><Relationship Id="rId8" Type="http://schemas.openxmlformats.org/officeDocument/2006/relationships/hyperlink" Target="https://github.com/NixOS/nixpkgs/pull/539503" TargetMode="External"/><Relationship Id="rId9" Type="http://schemas.openxmlformats.org/officeDocument/2006/relationships/hyperlink" Target="https://github.com/NixOS/nixpkgs/pull/554603" TargetMode="External"/><Relationship Id="rId10" Type="http://schemas.openxmlformats.org/officeDocument/2006/relationships/hyperlink" Target="https://github.com/NixOS/nixpkgs/pull/550010" TargetMode="External"/><Relationship Id="rId11" Type="http://schemas.openxmlformats.org/officeDocument/2006/relationships/hyperlink" Target="https://github.com/SaumonNet/proxmox-nixos/pull/248" TargetMode="External"/><Relationship Id="rId12" Type="http://schemas.openxmlformats.org/officeDocument/2006/relationships/hyperlink" Target="https://github.com/NixOS/nixpkgs/pull/565242" TargetMode="External"/><Relationship Id="rId13" Type="http://schemas.openxmlformats.org/officeDocument/2006/relationships/hyperlink" Target="https://github.com/NixOS/nixpkgs/pull/560645" TargetMode="External"/><Relationship Id="rId14" Type="http://schemas.openxmlformats.org/officeDocument/2006/relationships/hyperlink" Target="https://github.com/NixOS/nixpkgs/pull/545448" TargetMode="External"/><Relationship Id="rId15" Type="http://schemas.openxmlformats.org/officeDocument/2006/relationships/hyperlink" Target="https://github.com/NixOS/nixpkgs/pull/545342" TargetMode="External"/><Relationship Id="rId16" Type="http://schemas.openxmlformats.org/officeDocument/2006/relationships/hyperlink" Target="https://github.com/NixOS/nixpkgs/pull/551604" TargetMode="External"/><Relationship Id="rId17" Type="http://schemas.openxmlformats.org/officeDocument/2006/relationships/hyperlink" Target="https://github.com/NixOS/nixpkgs/pull/542494" TargetMode="External"/><Relationship Id="rId18" Type="http://schemas.openxmlformats.org/officeDocument/2006/relationships/hyperlink" Target="https://github.com/NixOS/nixpkgs/pull/540665" TargetMode="External"/><Relationship Id="rId19" Type="http://schemas.openxmlformats.org/officeDocument/2006/relationships/hyperlink" Target="https://github.com/NixOS/nixpkgs/pull/52319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github.com/liberodark/nix-community-builder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github.com/GaetanLepage" TargetMode="External"/><Relationship Id="rId4" Type="http://schemas.openxmlformats.org/officeDocument/2006/relationships/hyperlink" Target="https://github.com/Mic92" TargetMode="External"/><Relationship Id="rId5" Type="http://schemas.openxmlformats.org/officeDocument/2006/relationships/hyperlink" Target="https://github.com/Wegank" TargetMode="External"/><Relationship Id="rId6" Type="http://schemas.openxmlformats.org/officeDocument/2006/relationships/hyperlink" Target="https://github.com/Colemickens" TargetMode="External"/><Relationship Id="rId7" Type="http://schemas.openxmlformats.org/officeDocument/2006/relationships/hyperlink" Target="https://github.com/wolfgangwalther" TargetMode="External"/><Relationship Id="rId8" Type="http://schemas.openxmlformats.org/officeDocument/2006/relationships/hyperlink" Target="https://github.com/corngoo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483081" name="Title 1"/>
          <p:cNvSpPr>
            <a:spLocks noChangeArrowheads="1"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RISC-V on </a:t>
            </a:r>
            <a:r>
              <a:rPr/>
              <a:t>NIXPKGS</a:t>
            </a:r>
            <a:endParaRPr/>
          </a:p>
        </p:txBody>
      </p:sp>
      <p:sp>
        <p:nvSpPr>
          <p:cNvPr id="1437313562" name="Subtitle 2"/>
          <p:cNvSpPr>
            <a:spLocks noChangeArrowheads="1"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Porting NixOS to the SpacemiT K1 and K3, and making riscv64 usable in nixpkgs</a:t>
            </a:r>
            <a:endParaRPr/>
          </a:p>
          <a:p>
            <a:pPr>
              <a:defRPr/>
            </a:pPr>
            <a:r>
              <a:rPr sz="2400"/>
              <a:t>liberodark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930050" name="Titr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Self </a:t>
            </a:r>
            <a:r>
              <a:rPr/>
              <a:t>presentation</a:t>
            </a:r>
            <a:endParaRPr/>
          </a:p>
        </p:txBody>
      </p:sp>
      <p:sp>
        <p:nvSpPr>
          <p:cNvPr id="1035219477" name="Espace réservé du contenu 2"/>
          <p:cNvSpPr>
            <a:spLocks noChangeArrowheads="1"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liberodark</a:t>
            </a:r>
            <a:endParaRPr/>
          </a:p>
          <a:p>
            <a:pPr>
              <a:defRPr/>
            </a:pPr>
            <a:r>
              <a:rPr/>
              <a:t>IT architect, specialized on Linux</a:t>
            </a:r>
            <a:endParaRPr/>
          </a:p>
          <a:p>
            <a:pPr>
              <a:defRPr/>
            </a:pPr>
            <a:r>
              <a:rPr/>
              <a:t>Just another NixOS contributor, since 2023</a:t>
            </a:r>
            <a:endParaRPr/>
          </a:p>
          <a:p>
            <a:pPr>
              <a:defRPr/>
            </a:pPr>
            <a:r>
              <a:rPr/>
              <a:t>I also have been working on RISC-V for a few years now</a:t>
            </a:r>
            <a:endParaRPr/>
          </a:p>
          <a:p>
            <a:pPr>
              <a:defRPr/>
            </a:pPr>
            <a:r>
              <a:rPr sz="2000" u="sng">
                <a:latin typeface="Courier New"/>
                <a:hlinkClick r:id="rId3" tooltip=""/>
              </a:rPr>
              <a:t>github.com/liberodark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585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Why NixOS on RISC-V?</a:t>
            </a:r>
            <a:endParaRPr/>
          </a:p>
        </p:txBody>
      </p:sp>
      <p:sp>
        <p:nvSpPr>
          <p:cNvPr id="17301479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1200"/>
              </a:spcAft>
              <a:defRPr/>
            </a:pPr>
            <a:r>
              <a:rPr sz="2200" b="1"/>
              <a:t>Reproducible builds. </a:t>
            </a:r>
            <a:r>
              <a:rPr sz="2200"/>
              <a:t>The same nixpkgs revision gives the same result on every machine.</a:t>
            </a:r>
            <a:endParaRPr>
              <a:solidFill>
                <a:srgbClr val="FF0000"/>
              </a:solidFill>
            </a:endParaRPr>
          </a:p>
          <a:p>
            <a:pPr>
              <a:spcAft>
                <a:spcPts val="1200"/>
              </a:spcAft>
            </a:pPr>
            <a:r>
              <a:rPr sz="2200" b="1"/>
              <a:t>Native builds on real hardware. </a:t>
            </a:r>
            <a:r>
              <a:rPr sz="2200"/>
              <a:t>My riscv64 packages are built and tested directly on K3 boards, not cross-compiled.</a:t>
            </a:r>
          </a:p>
          <a:p>
            <a:pPr>
              <a:spcAft>
                <a:spcPts val="1200"/>
              </a:spcAft>
            </a:pPr>
            <a:r>
              <a:rPr sz="2200" b="1"/>
              <a:t>Hardware support is declarative. </a:t>
            </a:r>
            <a:r>
              <a:rPr sz="2200"/>
              <a:t>Kernel, patches and device tree live in one nixos-hardware module.</a:t>
            </a:r>
          </a:p>
          <a:p>
            <a:pPr/>
            <a:r>
              <a:rPr sz="2200" b="1"/>
              <a:t>One fix unblocks many packages. </a:t>
            </a:r>
            <a:r>
              <a:rPr sz="2200"/>
              <a:t>A fix merged in nixpkgs unblocks everything that depends on it. My builders share their binary caches, so servers can deploy riscv64 applications without rebuilding anything.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098345" name="Titr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How </a:t>
            </a:r>
            <a:r>
              <a:rPr/>
              <a:t>it </a:t>
            </a:r>
            <a:r>
              <a:rPr/>
              <a:t>began</a:t>
            </a:r>
            <a:endParaRPr/>
          </a:p>
        </p:txBody>
      </p:sp>
      <p:sp>
        <p:nvSpPr>
          <p:cNvPr id="632367520" name="Espace réservé du contenu 2"/>
          <p:cNvSpPr>
            <a:spLocks noChangeArrowheads="1" noGrp="1"/>
          </p:cNvSpPr>
          <p:nvPr>
            <p:ph type="body" idx="1"/>
          </p:nvPr>
        </p:nvSpPr>
        <p:spPr bwMode="auto"/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spcAft>
                <a:spcPts val="800"/>
              </a:spcAft>
              <a:defRPr sz="2500" cap="none"/>
            </a:pPr>
            <a:r>
              <a:rPr sz="2400"/>
              <a:t>I started porting NixOS to the SpacemiT K1, then moved to the SpacemiT K3.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2400"/>
              <a:t>After porting the K3 with the vendor kernel (SpacemiT), I successfully brought it to the mainline kernel.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2400"/>
              <a:t>To do so, I had to create custom patches that did not exist yet.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2400"/>
              <a:t>nixos-hardware: modules for the K3 and its variants.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7071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From K1 to K3: why it matters</a:t>
            </a:r>
            <a:endParaRPr/>
          </a:p>
        </p:txBody>
      </p:sp>
      <p:graphicFrame>
        <p:nvGraphicFramePr>
          <p:cNvPr id="1679239588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841248" y="1737360"/>
          <a:ext cx="10515600" cy="23774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103120"/>
                <a:gridCol w="3657600"/>
                <a:gridCol w="4754880"/>
              </a:tblGrid>
              <a:tr h="39624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/>
                        <a:t>SpacemiT K1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/>
                        <a:t>SpacemiT K3</a:t>
                      </a:r>
                      <a:endParaRPr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/>
                        <a:t>CPU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600"/>
                        <a:t>8 × X60, 1.6 GHz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8 × X100, 2.4 GHz</a:t>
                      </a:r>
                      <a:endParaRPr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/>
                        <a:t>ISA profile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RVA22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RVA23</a:t>
                      </a:r>
                      <a:endParaRPr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/>
                        <a:t>Memory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up to 16 GB LPDDR4X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up to 32 GB LPDDR5</a:t>
                      </a:r>
                      <a:endParaRPr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/>
                        <a:t>Storage / I/O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PCIe 2.1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PCIe Gen3, NVMe, UFS, 10 GbE</a:t>
                      </a:r>
                      <a:endParaRPr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/>
                        <a:t>Virtualization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no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600"/>
                        <a:t>yes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6741146" name="TextBox 3"/>
          <p:cNvSpPr txBox="1"/>
          <p:nvPr/>
        </p:nvSpPr>
        <p:spPr bwMode="auto">
          <a:xfrm>
            <a:off x="841248" y="4343400"/>
            <a:ext cx="10580759" cy="2250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2200" b="1"/>
              <a:t>Why the K3 for NixOS?</a:t>
            </a:r>
            <a:endParaRPr/>
          </a:p>
          <a:p>
            <a:pPr>
              <a:spcAft>
                <a:spcPts val="400"/>
              </a:spcAft>
            </a:pPr>
            <a:r>
              <a:rPr sz="1800"/>
              <a:t>• </a:t>
            </a:r>
            <a:r>
              <a:rPr sz="1800" b="1"/>
              <a:t>RVA23</a:t>
            </a:r>
            <a:r>
              <a:rPr sz="1800"/>
              <a:t> is the profile the RISC-V ecosystem now targets. Ubuntu uses RVA23 as its baseline since 25.10, and Ubuntu 26.04 LTS officially supports the K3.</a:t>
            </a:r>
          </a:p>
          <a:p>
            <a:pPr>
              <a:spcAft>
                <a:spcPts val="400"/>
              </a:spcAft>
            </a:pPr>
            <a:r>
              <a:rPr sz="1800"/>
              <a:t>• </a:t>
            </a:r>
            <a:r>
              <a:rPr sz="1800" b="1"/>
              <a:t>Native builds</a:t>
            </a:r>
            <a:r>
              <a:rPr sz="1800"/>
              <a:t>: big packages (GHC, .NET, Node.js) can be built and tested on the board. The 32 GB version is needed: 8 or 16 GB is not enough for builds such as Node.js.</a:t>
            </a:r>
          </a:p>
          <a:p>
            <a:pPr/>
            <a:r>
              <a:rPr sz="1800"/>
              <a:t>• </a:t>
            </a:r>
            <a:r>
              <a:rPr sz="1800" b="1"/>
              <a:t>Virtualization</a:t>
            </a:r>
            <a:r>
              <a:rPr sz="1800"/>
              <a:t>: the hypervisor extension (RVH) makes KVM and libkrun possible.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2914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And now: riscv64 in nixpkgs</a:t>
            </a:r>
            <a:endParaRPr/>
          </a:p>
        </p:txBody>
      </p:sp>
      <p:sp>
        <p:nvSpPr>
          <p:cNvPr id="34969881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3013049" cy="4351654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sz="2000" b="1"/>
              <a:t>Languages &amp; runtimes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.NET 8 / 9 / 10</a:t>
            </a:r>
            <a:r>
              <a:rPr sz="1800"/>
              <a:t>  </a:t>
            </a:r>
            <a:r>
              <a:rPr sz="1400" u="sng">
                <a:latin typeface="Courier New"/>
                <a:hlinkClick r:id="rId3" tooltip=""/>
              </a:rPr>
              <a:t>#557475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GHC 9.6.6</a:t>
            </a:r>
            <a:r>
              <a:rPr sz="1800"/>
              <a:t>  </a:t>
            </a:r>
            <a:r>
              <a:rPr sz="1400" u="sng">
                <a:latin typeface="Courier New"/>
                <a:hlinkClick r:id="rId4" tooltip=""/>
              </a:rPr>
              <a:t>#549823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Dart</a:t>
            </a:r>
            <a:r>
              <a:rPr sz="1800"/>
              <a:t>  </a:t>
            </a:r>
            <a:r>
              <a:rPr sz="1400" u="sng">
                <a:latin typeface="Courier New"/>
                <a:hlinkClick r:id="rId5" tooltip=""/>
              </a:rPr>
              <a:t>#555733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Deno</a:t>
            </a:r>
            <a:r>
              <a:rPr sz="1800"/>
              <a:t>  </a:t>
            </a:r>
            <a:r>
              <a:rPr sz="1400" u="sng">
                <a:latin typeface="Courier New"/>
                <a:hlinkClick r:id="rId6" tooltip=""/>
              </a:rPr>
              <a:t>#533574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Node.js 22</a:t>
            </a:r>
            <a:r>
              <a:rPr sz="1800"/>
              <a:t>  </a:t>
            </a:r>
            <a:r>
              <a:rPr sz="1400" u="sng">
                <a:latin typeface="Courier New"/>
                <a:hlinkClick r:id="rId7" tooltip=""/>
              </a:rPr>
              <a:t>#555658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Node.js 24</a:t>
            </a:r>
            <a:r>
              <a:rPr sz="1800"/>
              <a:t>  </a:t>
            </a:r>
            <a:r>
              <a:rPr sz="1400" u="sng">
                <a:latin typeface="Courier New"/>
                <a:hlinkClick r:id="rId8" tooltip=""/>
              </a:rPr>
              <a:t>#539503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Temurin (Java)</a:t>
            </a:r>
            <a:r>
              <a:rPr sz="1800"/>
              <a:t>  </a:t>
            </a:r>
            <a:r>
              <a:rPr sz="1400" u="sng">
                <a:latin typeface="Courier New"/>
                <a:hlinkClick r:id="rId9" tooltip=""/>
              </a:rPr>
              <a:t>#554603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800" b="1"/>
              <a:t>Gradle</a:t>
            </a:r>
            <a:r>
              <a:rPr sz="1800"/>
              <a:t>  </a:t>
            </a:r>
            <a:r>
              <a:rPr sz="1400" u="sng">
                <a:latin typeface="Courier New"/>
                <a:hlinkClick r:id="rId10" tooltip=""/>
              </a:rPr>
              <a:t>#550010</a:t>
            </a:r>
            <a:endParaRPr/>
          </a:p>
        </p:txBody>
      </p:sp>
      <p:sp>
        <p:nvSpPr>
          <p:cNvPr id="1575528786" name="Content Placeholder 3"/>
          <p:cNvSpPr>
            <a:spLocks noGrp="1"/>
          </p:cNvSpPr>
          <p:nvPr>
            <p:ph idx="2"/>
          </p:nvPr>
        </p:nvSpPr>
        <p:spPr bwMode="auto">
          <a:xfrm flipH="0" flipV="0">
            <a:off x="431456" y="5893057"/>
            <a:ext cx="11258610" cy="446773"/>
          </a:xfrm>
        </p:spPr>
        <p:txBody>
          <a:bodyPr/>
          <a:lstStyle/>
          <a:p>
            <a:pPr marL="0" indent="0">
              <a:buClrTx/>
              <a:buSzTx/>
              <a:buFont typeface="Arial"/>
              <a:buNone/>
              <a:defRPr/>
            </a:pPr>
            <a:r>
              <a:rPr sz="1600" i="1"/>
              <a:t>+ pdfium, ffmpeg, schroedinger, httpcore, PostgreSQL…</a:t>
            </a:r>
            <a:endParaRPr/>
          </a:p>
        </p:txBody>
      </p:sp>
      <p:sp>
        <p:nvSpPr>
          <p:cNvPr id="1567882178" name="Content Placeholder 2"/>
          <p:cNvSpPr>
            <a:spLocks noGrp="1"/>
          </p:cNvSpPr>
          <p:nvPr/>
        </p:nvSpPr>
        <p:spPr bwMode="auto">
          <a:xfrm flipH="0" flipV="0">
            <a:off x="4589475" y="1825624"/>
            <a:ext cx="3013048" cy="4351654"/>
          </a:xfr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marL="228600" marR="0" indent="-228600" algn="l" defTabSz="91440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8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599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spcAft>
                <a:spcPts val="399"/>
              </a:spcAft>
              <a:buNone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Infrastructure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Proxmox VE (proxmox-nixos)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1" tooltip=""/>
              </a:rPr>
              <a:t>#248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GitLab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2" tooltip=""/>
              </a:rPr>
              <a:t>#565242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Ceph 20.2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3" tooltip=""/>
              </a:rPr>
              <a:t>#560645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libkrun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4" tooltip=""/>
              </a:rPr>
              <a:t>#545448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CRIU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5" tooltip=""/>
              </a:rPr>
              <a:t>#545342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BIND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6" tooltip=""/>
              </a:rPr>
              <a:t>#551604</a:t>
            </a:r>
            <a:endParaRPr/>
          </a:p>
        </p:txBody>
      </p:sp>
      <p:sp>
        <p:nvSpPr>
          <p:cNvPr id="1966526148" name="Content Placeholder 2"/>
          <p:cNvSpPr>
            <a:spLocks noGrp="1"/>
          </p:cNvSpPr>
          <p:nvPr/>
        </p:nvSpPr>
        <p:spPr bwMode="auto">
          <a:xfrm flipH="0" flipV="0">
            <a:off x="8340750" y="1825624"/>
            <a:ext cx="3013048" cy="4351654"/>
          </a:xfr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marL="228600" marR="0" indent="-228600" algn="l" defTabSz="91440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8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599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marR="0" indent="-228600" algn="l" defTabSz="91440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/>
              <a:buChar char="•"/>
              <a:defRPr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spcAft>
                <a:spcPts val="399"/>
              </a:spcAft>
              <a:buNone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Libraries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libgcrypt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7" tooltip=""/>
              </a:rPr>
              <a:t>#542494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ANGLE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8" tooltip=""/>
              </a:rPr>
              <a:t>#540665</a:t>
            </a:r>
            <a:endParaRPr/>
          </a:p>
          <a:p>
            <a:pPr>
              <a:spcAft>
                <a:spcPts val="199"/>
              </a:spcAft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NumPy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400" b="0" i="0" u="sng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  <a:hlinkClick r:id="rId19" tooltip=""/>
              </a:rPr>
              <a:t>#523194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35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Builders, Hydra and binary caches</a:t>
            </a:r>
            <a:endParaRPr/>
          </a:p>
        </p:txBody>
      </p:sp>
      <p:sp>
        <p:nvSpPr>
          <p:cNvPr id="13795331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600"/>
              </a:spcAft>
              <a:defRPr/>
            </a:pPr>
            <a:r>
              <a:rPr sz="2000"/>
              <a:t>3 RISC-V builders on SpacemiT K3, running NixOS: </a:t>
            </a:r>
            <a:r>
              <a:rPr sz="2000" b="1"/>
              <a:t>build05, build06, build07.ynh.ovh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000"/>
              <a:t>Configuration: </a:t>
            </a:r>
            <a:r>
              <a:rPr sz="1800" u="sng">
                <a:latin typeface="Courier New"/>
                <a:hlinkClick r:id="rId3" tooltip=""/>
              </a:rPr>
              <a:t>github.com/liberodark/nix-community-builder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000"/>
              <a:t>My Hydra instance builds riscv64 packages on these machines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2000"/>
              <a:t>Each builder serves its Nix store as a binary cache over HTTPS (Harmonia)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sz="2000" b="1"/>
              <a:t>To use them, in your NixOS configuration: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nix.settings = {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substituters = [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  "https://build05.ynh.ovh" "https://build06.ynh.ovh" "https://build07.ynh.ovh"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];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trusted-public-keys = [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  "build05.ynh.ovh:bLxWKPjbKYOFxqrjOxv+cdwS3kFLuHEf1k6j8fAxbzM="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  "build06.ynh.ovh:bPg6x17ztNd3uMxdclDvdJpTl2pwLiTdHTt9ymTNoMU="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  "build07.ynh.ovh:+FpUDKUYk4H9uzLgtbE0MHOx+5Nm7YEFBrJJGiQ9O8U="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  ];</a:t>
            </a:r>
            <a:endParaRPr/>
          </a:p>
          <a:p>
            <a:pPr lvl="1">
              <a:spcAft>
                <a:spcPts val="0"/>
              </a:spcAft>
              <a:buNone/>
              <a:defRPr/>
            </a:pPr>
            <a:r>
              <a:rPr sz="1300">
                <a:latin typeface="Courier New"/>
              </a:rPr>
              <a:t>};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9884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Goals and what's next</a:t>
            </a:r>
            <a:endParaRPr/>
          </a:p>
        </p:txBody>
      </p:sp>
      <p:sp>
        <p:nvSpPr>
          <p:cNvPr id="16403233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1000"/>
              </a:spcAft>
              <a:defRPr/>
            </a:pPr>
            <a:r>
              <a:rPr sz="2400"/>
              <a:t>Make NixOS 26.05 and 26.11 usable on RISC-V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2400"/>
              <a:t>nixos-hardware support for the K3 and its variants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2400"/>
              <a:t>Improve evaluation in nixpkgs in general</a:t>
            </a:r>
            <a:endParaRPr/>
          </a:p>
          <a:p>
            <a:pPr>
              <a:defRPr/>
            </a:pPr>
            <a:r>
              <a:rPr sz="2400"/>
              <a:t>Next architecture: loongarch64, once riscv64 is done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168184" name="Titr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Special </a:t>
            </a:r>
            <a:r>
              <a:rPr/>
              <a:t>thanks </a:t>
            </a:r>
            <a:r>
              <a:rPr/>
              <a:t>to...</a:t>
            </a:r>
            <a:endParaRPr/>
          </a:p>
        </p:txBody>
      </p:sp>
      <p:sp>
        <p:nvSpPr>
          <p:cNvPr id="1765096808" name="Espace réservé du contenu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838200" y="1825625"/>
            <a:ext cx="10515600" cy="435165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sz="2400" b="1"/>
              <a:t>Gaétan Lepage</a:t>
            </a:r>
            <a:r>
              <a:rPr sz="2400"/>
              <a:t> for supporting my work  </a:t>
            </a:r>
            <a:r>
              <a:rPr sz="1600" u="sng">
                <a:latin typeface="Courier New"/>
                <a:hlinkClick r:id="rId3" tooltip=""/>
              </a:rPr>
              <a:t>github.com/GaetanLepage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400" b="1"/>
              <a:t>Mic92</a:t>
            </a:r>
            <a:r>
              <a:rPr sz="2400"/>
              <a:t> for the PR reviews  </a:t>
            </a:r>
            <a:r>
              <a:rPr sz="1600" u="sng">
                <a:latin typeface="Courier New"/>
                <a:hlinkClick r:id="rId4" tooltip=""/>
              </a:rPr>
              <a:t>github.com/Mic92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400" b="1"/>
              <a:t>Wegank</a:t>
            </a:r>
            <a:r>
              <a:rPr sz="2400"/>
              <a:t> for the PR reviews  </a:t>
            </a:r>
            <a:r>
              <a:rPr sz="1600" u="sng">
                <a:latin typeface="Courier New"/>
                <a:hlinkClick r:id="rId5" tooltip=""/>
              </a:rPr>
              <a:t>github.com/Wegank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400" b="1"/>
              <a:t>Colemickens</a:t>
            </a:r>
            <a:r>
              <a:rPr sz="2400"/>
              <a:t> for the hardware tests  </a:t>
            </a:r>
            <a:r>
              <a:rPr sz="1600" u="sng">
                <a:latin typeface="Courier New"/>
                <a:hlinkClick r:id="rId6" tooltip=""/>
              </a:rPr>
              <a:t>github.com/Colemickens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400" b="1"/>
              <a:t>wolfgangwalther</a:t>
            </a:r>
            <a:r>
              <a:rPr sz="2400"/>
              <a:t> for the GHC part  </a:t>
            </a:r>
            <a:r>
              <a:rPr sz="1600" u="sng">
                <a:latin typeface="Courier New"/>
                <a:hlinkClick r:id="rId7" tooltip=""/>
              </a:rPr>
              <a:t>github.com/wolfgangwalther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400" b="1"/>
              <a:t>corngood</a:t>
            </a:r>
            <a:r>
              <a:rPr sz="2400"/>
              <a:t> for the help on .NET  </a:t>
            </a:r>
            <a:r>
              <a:rPr sz="1600" u="sng">
                <a:latin typeface="Courier New"/>
                <a:hlinkClick r:id="rId8" tooltip=""/>
              </a:rPr>
              <a:t>github.com/corngood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2012-12-03T06:56:55Z</dcterms:created>
  <dcterms:modified xsi:type="dcterms:W3CDTF">2026-09-22T16:19:15Z</dcterms:modified>
</cp:coreProperties>
</file>